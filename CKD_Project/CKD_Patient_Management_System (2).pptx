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778240" y="54864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00919B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509760" y="18288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36B8BE"/>
          </a:solidFill>
          <a:ln w="10160">
            <a:solidFill>
              <a:srgbClr val="36B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69680" y="32461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2D9167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09760" y="46634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E78F30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777240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Aptos"/>
              </a:rPr>
              <a:t>THE CHRONIC KIDNEY DISEASE</a:t>
            </a:r>
            <a:br>
              <a:rPr dirty="0"/>
            </a:br>
            <a:r>
              <a:rPr dirty="0">
                <a:solidFill>
                  <a:schemeClr val="bg2"/>
                </a:solidFill>
              </a:rPr>
              <a:t>(CKD)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4028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E1EB"/>
                </a:solidFill>
                <a:latin typeface="Aptos"/>
              </a:rPr>
              <a:t>Database-driven healthcare platform for patient records, laboratory data, appointments and CKD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127248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919B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3154679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Team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160520"/>
            <a:ext cx="6035040" cy="1417320"/>
          </a:xfrm>
          <a:prstGeom prst="roundRect">
            <a:avLst>
              <a:gd name="adj" fmla="val 8000"/>
            </a:avLst>
          </a:prstGeom>
          <a:solidFill>
            <a:srgbClr val="1B3C57"/>
          </a:solidFill>
          <a:ln w="10160">
            <a:solidFill>
              <a:srgbClr val="3E6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2702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B8BE"/>
                </a:solidFill>
                <a:latin typeface="Aptos"/>
              </a:rPr>
              <a:t>ROLL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427024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B8BE"/>
                </a:solidFill>
                <a:latin typeface="Aptos"/>
              </a:rPr>
              <a:t>TEAM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572000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2520080060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1" y="4572000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J. Sohan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8289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2520090137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1" y="4882896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J. Sri charan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193792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2520080036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1" y="5193792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Adithya vishnubatala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89320"/>
            <a:ext cx="6035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CDDA"/>
                </a:solidFill>
                <a:latin typeface="Aptos"/>
              </a:rPr>
              <a:t>25CS1302E  •  Y25–2026–2027  •  Trimester 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1C5DBB-E646-BE87-51FE-9726FB5E0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79" y="0"/>
            <a:ext cx="50550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408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What the system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Centralizes patient, doctor, laboratory, appointment and CKD prediction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Uses PostgreSQL for structured relational data and MongoDB for flexible clinical documents.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Provides a FastAPI backend with validation, authentication and role-based access.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Supports a CKD classification workflow using cleaned clinical input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80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A43"/>
                </a:solidFill>
                <a:latin typeface="Aptos"/>
              </a:rPr>
              <a:t>A secure and efficient healthcare data platform that connects clinical records, prediction results and appointment workflows in one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246120"/>
            <a:ext cx="123444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1383" y="3273551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PATIENT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4612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FFEFDB"/>
          </a:solidFill>
          <a:ln w="10160">
            <a:solidFill>
              <a:srgbClr val="FFE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72984" y="3273551"/>
            <a:ext cx="13075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E78F30"/>
                </a:solidFill>
                <a:latin typeface="Aptos"/>
              </a:rPr>
              <a:t>CKD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24612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E6F4EB"/>
          </a:solidFill>
          <a:ln w="10160">
            <a:solidFill>
              <a:srgbClr val="E6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7464" y="3273551"/>
            <a:ext cx="12161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D9167"/>
                </a:solidFill>
                <a:latin typeface="Aptos"/>
              </a:rPr>
              <a:t>APPOINTMENTS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370332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3" y="3730752"/>
            <a:ext cx="10789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SECURE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70332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27264" y="3730752"/>
            <a:ext cx="10789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SQL + NoSQL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703320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0EBF9"/>
          </a:solidFill>
          <a:ln w="10160">
            <a:solidFill>
              <a:srgbClr val="F0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3730752"/>
            <a:ext cx="987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F4F96"/>
                </a:solidFill>
                <a:latin typeface="Aptos"/>
              </a:rPr>
              <a:t>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NEED FOR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4088" y="1325880"/>
            <a:ext cx="182880" cy="182880"/>
          </a:xfrm>
          <a:prstGeom prst="round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Current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55648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Patient, laboratory and appointment information may be stored in separate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Manual entry can create duplication, inconsistency and missing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Retrieving related clinical information can be slow and difficult.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Prediction results may not be linked directly to patient history.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  <a:latin typeface="Aptos"/>
              </a:defRPr>
            </a:pPr>
            <a:r>
              <a:t>• Sensitive healthcare data requires controlled access and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298448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Problem to solve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A43"/>
                </a:solidFill>
                <a:latin typeface="Aptos"/>
              </a:rPr>
              <a:t>How can one platform securely manage healthcare records while also supporting CKD prediction and appointment workflows?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75120" y="3794760"/>
            <a:ext cx="406908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4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251960"/>
            <a:ext cx="73152" cy="658368"/>
          </a:xfrm>
          <a:prstGeom prst="rect">
            <a:avLst/>
          </a:prstGeom>
          <a:solidFill>
            <a:srgbClr val="C4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Scattered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4251960"/>
            <a:ext cx="73152" cy="658368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1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Manual processing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4251960"/>
            <a:ext cx="15087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966960" y="4251960"/>
            <a:ext cx="73152" cy="6583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31552" y="4325112"/>
            <a:ext cx="1252728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Limited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919B"/>
                </a:solidFill>
                <a:latin typeface="Aptos"/>
              </a:rPr>
              <a:t>SQL + NoSQL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Structured + flexible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2D9167"/>
                </a:solidFill>
                <a:latin typeface="Aptos"/>
              </a:rPr>
              <a:t>One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Clinical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E78F30"/>
                </a:solidFill>
                <a:latin typeface="Aptos"/>
              </a:rPr>
              <a:t>CKD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Prediction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3716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1499616"/>
            <a:ext cx="2249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F2A43"/>
                </a:solidFill>
                <a:latin typeface="Aptos"/>
              </a:rPr>
              <a:t>RBAC +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901952"/>
            <a:ext cx="22494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7484"/>
                </a:solidFill>
                <a:latin typeface="Aptos"/>
              </a:rPr>
              <a:t>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105613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2807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Project motivation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2918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Demonstrate how database engineering can improve organization of healthcare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Connect patient history, laboratory measurements and prediction records through a common patient identity.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Create a practical backend architecture that can grow toward distributed deployment.</a:t>
            </a:r>
          </a:p>
          <a:p>
            <a:pPr>
              <a:spcAft>
                <a:spcPts val="700"/>
              </a:spcAft>
              <a:defRPr sz="1600">
                <a:solidFill>
                  <a:srgbClr val="243746"/>
                </a:solidFill>
                <a:latin typeface="Aptos"/>
              </a:defRPr>
            </a:pPr>
            <a:r>
              <a:t>• Provide a clear workflow from patient registration to prediction and appointment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441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Centralize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Manage patient, doctor, lab, appointment and prediction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39903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441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Ensure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9164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Use keys, constraints, validation and transactions.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9077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529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Predict CKD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20040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Process clinical features and store prediction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9077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5292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Secure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0040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Apply authentication and role-based authorization.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4165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6168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Integrate 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0916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Combine PostgreSQL and MongoDB through APIs.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51960"/>
            <a:ext cx="507492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4165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36168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Aptos"/>
              </a:rPr>
              <a:t>Prepare for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70916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7484"/>
                </a:solidFill>
                <a:latin typeface="Aptos"/>
              </a:rPr>
              <a:t>Design services for containerized and observable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WHAT EXISTING RESEARCH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Capodici et al. (2023)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44168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Reviewed 68 CKD AI/ML studies; highlighted promising performance but limited generalizability and limited clinical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04872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420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Khalid et al.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Found ML useful for CKD progression prediction; emphasized data quality, bias, external validation and clinical implementation.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75304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1246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Pan &amp; Tong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85032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Meta-analysis reported strong overall diagnostic discrimination across AI studies, while showing substantial heterogeneity.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45736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Gogoi et al.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55464"/>
            <a:ext cx="7315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Reviewed CKD prediction trends and identified small datasets, limited stage-specific prediction, interpretability and privacy as recurring issues.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919B"/>
                </a:solidFill>
                <a:latin typeface="Aptos"/>
              </a:rPr>
              <a:t>Key takeaway: CKD prediction is promising, but real-world systems need stronger integration, validation, privacy and data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WHAT IS STILL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Small / narrow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Many studies rely on limited datasets or single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079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Limited system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Prediction is often evaluated separately from patient records and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325880"/>
            <a:ext cx="33375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65592" y="149047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0456" y="151790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920240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Generalization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267712"/>
            <a:ext cx="30083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Models may not be tested across diverse populations or external settings.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747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0392" y="363931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" y="366674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069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Interpretability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416552"/>
            <a:ext cx="48371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Clinical users need understandable outputs, not only a class label.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474720"/>
            <a:ext cx="51663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3639312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366674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GAP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4069080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Aptos"/>
              </a:rPr>
              <a:t>Privacy &amp;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416552"/>
            <a:ext cx="48371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7484"/>
                </a:solidFill>
                <a:latin typeface="Aptos"/>
              </a:rPr>
              <a:t>Healthcare data requires stronger access control and secure data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1</a:t>
            </a:r>
            <a:br/>
            <a:r>
              <a:t>Collect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Public CKD dataset + project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552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30552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95144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2</a:t>
            </a:r>
            <a:br/>
            <a:r>
              <a:t>Clean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47872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Handle missing, invalid and categorical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8184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58184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22776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3</a:t>
            </a:r>
            <a:br/>
            <a:r>
              <a:t>Store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75504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30752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Load structured data to PostgreSQL; flexible records to MongoDB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85816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85816" y="1828800"/>
            <a:ext cx="73152" cy="9144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50407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4</a:t>
            </a:r>
            <a:br/>
            <a:r>
              <a:t>Predict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3136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58383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Transform clinical inputs and run CKD classifier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13448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13448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78040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5</a:t>
            </a:r>
            <a:br/>
            <a:r>
              <a:t>Integrate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30768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86016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Expose services through FastAPI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41080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05672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6</a:t>
            </a:r>
            <a:br/>
            <a:r>
              <a:t>Secure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58400" y="2286000"/>
            <a:ext cx="210312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613648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Authenticate, authorize, validate and audit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68712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268712" y="1828800"/>
            <a:ext cx="73152" cy="9144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33304" y="1901952"/>
            <a:ext cx="1161288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7</a:t>
            </a:r>
            <a:br/>
            <a:r>
              <a:t>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971800"/>
            <a:ext cx="148132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7484"/>
                </a:solidFill>
                <a:latin typeface="Aptos"/>
              </a:rPr>
              <a:t>Test functionality, model metrics and API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80060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A43"/>
                </a:solidFill>
                <a:latin typeface="Aptos"/>
              </a:rPr>
              <a:t>Raw data → cleaning → validation → database loading → prediction → secure API →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LAYERED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1155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API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11556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1155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1481328"/>
            <a:ext cx="73152" cy="71323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Web / Mobile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95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FastAPI Gateway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481328"/>
            <a:ext cx="1691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060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46904" y="1527048"/>
            <a:ext cx="1435608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Auth + RBAC</a:t>
            </a:r>
            <a:br/>
            <a:r>
              <a:t>Validation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1837943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1837943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0372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3720" y="1481328"/>
            <a:ext cx="73152" cy="713232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Patient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1481328"/>
            <a:ext cx="73152" cy="713232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Lab 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72600" y="1481328"/>
            <a:ext cx="73152" cy="713232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1890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Prediction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481328"/>
            <a:ext cx="107899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607040" y="1481328"/>
            <a:ext cx="73152" cy="71323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53344" y="1527048"/>
            <a:ext cx="82295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Appointment Service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92240" y="1837943"/>
            <a:ext cx="41148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29718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DATA STORAGE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401568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4400" y="3401568"/>
            <a:ext cx="73152" cy="11430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0704" y="3447288"/>
            <a:ext cx="404164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PostgreSQL</a:t>
            </a:r>
            <a:br/>
            <a:r>
              <a:t>Patients • Doctors • Tests</a:t>
            </a:r>
            <a:br/>
            <a:r>
              <a:t>Appointments • Predictions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3401568"/>
            <a:ext cx="4297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12280" y="3401568"/>
            <a:ext cx="73152" cy="11430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58584" y="3447288"/>
            <a:ext cx="404164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MongoDB</a:t>
            </a:r>
            <a:br/>
            <a:r>
              <a:t>Lab reports • Clinical notes</a:t>
            </a:r>
            <a:br/>
            <a:r>
              <a:t>Flexible observations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3246120" y="2194560"/>
            <a:ext cx="4160520" cy="1207008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09560" y="2194560"/>
            <a:ext cx="1005840" cy="1207008"/>
          </a:xfrm>
          <a:prstGeom prst="line">
            <a:avLst/>
          </a:prstGeom>
          <a:ln w="27940">
            <a:solidFill>
              <a:srgbClr val="2D9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09160" y="4892040"/>
            <a:ext cx="2788920" cy="502920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28032" y="502005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0919B"/>
                </a:solidFill>
                <a:latin typeface="Aptos"/>
              </a:rPr>
              <a:t>patient_id = canonical identity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09160" y="3977639"/>
            <a:ext cx="777240" cy="914401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537960" y="3977639"/>
            <a:ext cx="274320" cy="914401"/>
          </a:xfrm>
          <a:prstGeom prst="line">
            <a:avLst/>
          </a:prstGeom>
          <a:ln w="27940">
            <a:solidFill>
              <a:srgbClr val="2D91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85800" y="566928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DEPLOYMENT &amp; MONITORING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718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175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Docker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749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Kubernetes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600" y="5577840"/>
            <a:ext cx="1828800" cy="420624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0" y="567842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Prometheus / Grafana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F85F154-122C-CF1D-8395-5D87B24C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" y="-2458"/>
            <a:ext cx="12185305" cy="6860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IMPLEMENTATION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HTML / CSS /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Patient and staff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FastAPI +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REST APIs and service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2344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1" y="137160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Relational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20299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Structured records and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Document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Flexible clinical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53712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ML /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Python + pandas + 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Preprocessing and CKD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2807208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1" y="2944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1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JWT / OAuth2 concepts + RBAC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1" y="3602736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Authentication and access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1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pytest + API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Functional and security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Docker + Kubernetes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Containerized deployment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4379976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02751" y="451713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1" y="48188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Prometheus + Grafana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517550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7484"/>
                </a:solidFill>
                <a:latin typeface="Aptos"/>
              </a:rPr>
              <a:t>Metrics and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Dataset / Input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DATA USED BY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Public CKD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UCI Chronic Kidney Disease dataset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400 instances and 24 input features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Classification target: CKD / not-CKD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Contains missing values that require preprocessing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Features include age, blood pressure, albumin, glucose, urea, creatinine, electrolytes and blood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27648" y="132588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298448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Operational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830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Patient profile and demographic details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Medical test measurements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Doctor and appointment information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Prediction request + prediction history</a:t>
            </a:r>
          </a:p>
          <a:p>
            <a:pPr>
              <a:spcAft>
                <a:spcPts val="700"/>
              </a:spcAft>
              <a:defRPr sz="1450">
                <a:solidFill>
                  <a:srgbClr val="243746"/>
                </a:solidFill>
                <a:latin typeface="Aptos"/>
              </a:defRPr>
            </a:pPr>
            <a:r>
              <a:t>• User role and audit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A43"/>
                </a:solidFill>
                <a:latin typeface="Aptos"/>
              </a:rPr>
              <a:t>Data preparation: raw records → cleaning → missing-value handling → encoding → validation → model-ready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PATIENT &amp; DATABASE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90472"/>
            <a:ext cx="175564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Patient 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4173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1490472"/>
            <a:ext cx="175564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Validate Input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4173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9552" y="1490472"/>
            <a:ext cx="19385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Store in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4173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0956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1490472"/>
            <a:ext cx="19385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Retrieve / Update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1764792"/>
            <a:ext cx="32004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1764792"/>
            <a:ext cx="320039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89520" y="1764792"/>
            <a:ext cx="32004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471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Database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46120"/>
            <a:ext cx="4617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Patient, doctor, appointment, test and prediction entities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Primary and foreign keys maintain relationships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NOT NULL, UNIQUE and CHECK constraints protect data quality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Indexes support frequent patient and appointment lookups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Transactions keep related updates consistent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36208" y="2834640"/>
            <a:ext cx="182880" cy="182880"/>
          </a:xfrm>
          <a:prstGeom prst="round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4526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A43"/>
                </a:solidFill>
                <a:latin typeface="Aptos"/>
              </a:rPr>
              <a:t>A consistent patient record becomes the central identity used across clinical workflows.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663440"/>
            <a:ext cx="11430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5664" y="4690872"/>
            <a:ext cx="103327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PATIENT 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466344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81544" y="4690872"/>
            <a:ext cx="11704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RELATIONSHIPS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466344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44584" y="4690872"/>
            <a:ext cx="9418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AUDITABLE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CKD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Clinical 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Preprocess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348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6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Feature Vector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922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225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Classifier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496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154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1540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799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Aptos"/>
              </a:rPr>
              <a:t>CKD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743200"/>
            <a:ext cx="5120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4712" y="280720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Prediction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4612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Accept required clinical features from the patient/test record.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Clean and encode the values using the same preprocessing logic used during training.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Generate the model input and obtain the predicted CKD class.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Store the prediction with patient ID and timestamp.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743200"/>
            <a:ext cx="5120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81928" y="2834640"/>
            <a:ext cx="182880" cy="182880"/>
          </a:xfrm>
          <a:prstGeom prst="round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2807208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37560"/>
            <a:ext cx="4526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A43"/>
                </a:solidFill>
                <a:latin typeface="Aptos"/>
              </a:rPr>
              <a:t>Prediction is a decision-support component—not a replacement for clinical diagnosis.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17720"/>
            <a:ext cx="4526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7484"/>
                </a:solidFill>
                <a:latin typeface="Aptos"/>
              </a:rPr>
              <a:t>The system should present the result together with the underlying patient/test context.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Implementation –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APPOINTMENTS, APIS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6858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Client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Authenticate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00600" y="1417320"/>
            <a:ext cx="73152" cy="6858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651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Authorize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41732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0" y="1417320"/>
            <a:ext cx="73152" cy="6858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2592" y="1490472"/>
            <a:ext cx="143560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Validate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187451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1417320"/>
            <a:ext cx="73152" cy="6858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9992" y="1490472"/>
            <a:ext cx="1618487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Service + DB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348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922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49640" y="1764792"/>
            <a:ext cx="365760" cy="0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283464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471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API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246120"/>
            <a:ext cx="4617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Patient CRUD operations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Medical test and prediction endpoints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Appointment creation and retrieval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Pydantic request validation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OpenAPI documentation and centralized error handling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74320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36208" y="2834640"/>
            <a:ext cx="182880" cy="182880"/>
          </a:xfrm>
          <a:prstGeom prst="round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28072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Security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46120"/>
            <a:ext cx="4572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JWT / OAuth2-style authentication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Role-based access for admin, doctor, staff and patient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Password hashing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Rate limiting and audit events</a:t>
            </a:r>
          </a:p>
          <a:p>
            <a:pPr>
              <a:spcAft>
                <a:spcPts val="700"/>
              </a:spcAft>
              <a:defRPr sz="1350">
                <a:solidFill>
                  <a:srgbClr val="243746"/>
                </a:solidFill>
                <a:latin typeface="Aptos"/>
              </a:defRPr>
            </a:pPr>
            <a:r>
              <a:t>• Secure separation of client, service and database layers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HOW THE PROTOTYPE IS EVALUATED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38074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35331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UCI CKD dataset; 400 records; 24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8074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35331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Missing values, categorical encoding, validation and feature 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4320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6207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Train / validation / test separation to avoid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74320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8950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86207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FastAPI with PostgreSQL + MongoDB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3982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7083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API, validation, authentication and database operation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51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39826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919B"/>
                </a:solidFill>
                <a:latin typeface="Aptos"/>
              </a:rP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370832"/>
            <a:ext cx="3337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Python development environment; containerization prepared for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PROTOTYPE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41732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44475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6245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Database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5331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Patient, doctor, test, appointment and prediction entities mapped to a relational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37744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240487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32257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Hybrid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31343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PostgreSQL handles structured records; MongoDB supports flexible clinical documents.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33756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336499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28269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Prediction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Clinical inputs can move through preprocessing to a CKD classification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429768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432511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4281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API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3367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FastAPI provides validated service endpoints and a clear security 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74920"/>
            <a:ext cx="1060704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5257800"/>
            <a:ext cx="41148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" y="5285232"/>
            <a:ext cx="3017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029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2A43"/>
                </a:solidFill>
                <a:latin typeface="Aptos"/>
              </a:rPr>
              <a:t>Workflow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19379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3746"/>
                </a:solidFill>
                <a:latin typeface="Aptos"/>
              </a:rPr>
              <a:t>Registration → test → prediction → appointment → analytics/reporting is represented as one process.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METRICS TO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Correct CKD classifications / total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Reliability of positive CKD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Ability to identify CKD cases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32588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19" y="14904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1892807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Discrimination across classification thresholds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79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API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Time required for secure request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DB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Time for key patient / appointment queries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59" y="32004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19" y="336499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Throughput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1" y="3767328"/>
            <a:ext cx="217627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Requests handled during load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E78F30"/>
                </a:solidFill>
                <a:latin typeface="Aptos"/>
              </a:rPr>
              <a:t>Important: the current project material does not provide measured accuracy, latency or throughput values; these should be filled after final experiments.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Screenshots /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PROTOTYPE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PATIENT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1965960"/>
            <a:ext cx="73152" cy="47548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0391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Patient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6517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60120" y="2651760"/>
            <a:ext cx="73152" cy="475488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27249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Lab test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375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3337560"/>
            <a:ext cx="73152" cy="475488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34107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CKD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023360"/>
            <a:ext cx="2697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" y="4023360"/>
            <a:ext cx="73152" cy="47548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4712" y="4096512"/>
            <a:ext cx="24414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Appointment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7484"/>
                </a:solidFill>
                <a:latin typeface="Aptos"/>
              </a:rPr>
              <a:t>Prototype screen 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123444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14813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CKD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011680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26864" y="2039112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2011680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5F3F5"/>
          </a:solidFill>
          <a:ln w="10160">
            <a:solidFill>
              <a:srgbClr val="E5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9824" y="2039112"/>
            <a:ext cx="8503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19B"/>
                </a:solidFill>
                <a:latin typeface="Aptos"/>
              </a:rPr>
              <a:t>PREPROCESS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011680"/>
            <a:ext cx="685800" cy="310896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016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47103" y="2039112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F2A43"/>
                </a:solidFill>
                <a:latin typeface="Aptos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74320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7484"/>
                </a:solidFill>
                <a:latin typeface="Aptos"/>
              </a:rPr>
              <a:t>Clinical features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0720" y="3063240"/>
            <a:ext cx="0" cy="685799"/>
          </a:xfrm>
          <a:prstGeom prst="line">
            <a:avLst/>
          </a:prstGeom>
          <a:ln w="27940">
            <a:solidFill>
              <a:srgbClr val="00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892040" y="379476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EFDB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74920" y="398678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78F30"/>
                </a:solidFill>
                <a:latin typeface="Aptos"/>
              </a:rPr>
              <a:t>CKD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1234440"/>
            <a:ext cx="38862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09560" y="1481328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WORKING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96596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1965960"/>
            <a:ext cx="73152" cy="4572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2039112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Register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573768" y="2423160"/>
            <a:ext cx="0" cy="164592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29600" y="2587752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D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2587752"/>
            <a:ext cx="73152" cy="457200"/>
          </a:xfrm>
          <a:prstGeom prst="rect">
            <a:avLst/>
          </a:prstGeom>
          <a:solidFill>
            <a:srgbClr val="2D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94192" y="2660904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Record test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73768" y="3044952"/>
            <a:ext cx="0" cy="164592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3209544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0" y="3209544"/>
            <a:ext cx="73152" cy="457200"/>
          </a:xfrm>
          <a:prstGeom prst="rect">
            <a:avLst/>
          </a:prstGeom>
          <a:solidFill>
            <a:srgbClr val="E7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94192" y="3282696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Predict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73768" y="3666744"/>
            <a:ext cx="0" cy="164591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29600" y="3831335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29600" y="3831335"/>
            <a:ext cx="73152" cy="4572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94192" y="3904487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Book appointment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573768" y="4288536"/>
            <a:ext cx="0" cy="164591"/>
          </a:xfrm>
          <a:prstGeom prst="line">
            <a:avLst/>
          </a:prstGeom>
          <a:ln w="17780">
            <a:solidFill>
              <a:srgbClr val="5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229600" y="445312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29600" y="4453128"/>
            <a:ext cx="73152" cy="4572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94192" y="4526280"/>
            <a:ext cx="24414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0F2A43"/>
                </a:solidFill>
                <a:latin typeface="Aptos"/>
              </a:rPr>
              <a:t>View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49834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7484"/>
                </a:solidFill>
                <a:latin typeface="Aptos"/>
              </a:rPr>
              <a:t>Use actual implementation screenshots here when available.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Comparison with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WHY THE PROPOSED SYSTEM IS STRONGER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83464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35331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234440"/>
            <a:ext cx="338328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35331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Manual / isolated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234440"/>
            <a:ext cx="4160520" cy="50292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0F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1353312"/>
            <a:ext cx="3977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Proposed CKD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783080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883664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Patient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783080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7328" y="1883664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Separate files / repeated entry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783080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4927" y="1883664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Centralized PostgreSQL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395728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496312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Clinical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39572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2496312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Fixed or scattered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395728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4927" y="2496312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MongoDB supports flexible documents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08376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108960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CKD prediction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008376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67328" y="3108960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Separate analysis step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008376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24927" y="3108960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Integrated prediction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621024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721608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Appointments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3621024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67328" y="3721608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Independent scheduling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621024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24927" y="3721608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Linked to patient and doctor records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33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334256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Access 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4233672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67328" y="4334256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Basic / inconsistent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23367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24927" y="4334256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Authentication + RBAC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46320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4946904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Scalability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4846320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67328" y="4946904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Limited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4846320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24927" y="4946904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API + container-ready architecture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458968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5559552"/>
            <a:ext cx="26151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Monitoring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0" y="5458968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67328" y="5559552"/>
            <a:ext cx="31638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243746"/>
                </a:solidFill>
                <a:latin typeface="Aptos"/>
              </a:rPr>
              <a:t>Minimal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5458968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24927" y="5559552"/>
            <a:ext cx="394106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F2A43"/>
                </a:solidFill>
                <a:latin typeface="Aptos"/>
              </a:rPr>
              <a:t>Prometheus / Grafana 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IMPLEMENTATION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8930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252728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documented imputation and validation before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252728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Cleaner model 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01952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04825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Mixed data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011680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Normalize categorical and numeric representations.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Consistent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60904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8072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Dual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770632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patient_id as the canonical identity.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770632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Reliable linkage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19856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6616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Sensitive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529584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RBAC, authentication, hashing and audit logging.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529584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Controlled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78808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32511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Model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288536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Use held-out evaluation and external validation later.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88536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Safer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37759"/>
            <a:ext cx="109270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08406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2A43"/>
                </a:solidFill>
                <a:latin typeface="Aptos"/>
              </a:rPr>
              <a:t>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5047488"/>
            <a:ext cx="5394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3746"/>
                </a:solidFill>
                <a:latin typeface="Aptos"/>
              </a:rPr>
              <a:t>Separate services and containerize components.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47488"/>
            <a:ext cx="2788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919B"/>
                </a:solidFill>
                <a:latin typeface="Aptos"/>
              </a:rPr>
              <a:t>→ Deployment readiness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NEXT DEVELOPMENT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5613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2984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10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9222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Use larger and more diverse clinical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10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9222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stage-specific CKD risk prediction and longitudinal patient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70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5234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explainable AI so clinicians can understand important features behind a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70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5234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Perform external validation and prospective clinical evaluation before real-world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1246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Strengthen privacy with encryption, key management and detailed audit trails.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30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1246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Deploy services with Kubernetes, CI/CD and production monitoring.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908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919B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72584"/>
            <a:ext cx="4434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746"/>
                </a:solidFill>
                <a:latin typeface="Aptos"/>
              </a:rPr>
              <a:t>Add patient notifications, doctor dashboards and analytics.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F2A43"/>
                </a:solidFill>
                <a:latin typeface="Aptos"/>
              </a:rPr>
              <a:t>A unified CKD healthcare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F7484"/>
                </a:solidFill>
                <a:latin typeface="Aptos"/>
              </a:rPr>
              <a:t>The project combines database engineering, CKD prediction and secure backend development into one connected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919B"/>
                </a:solidFill>
                <a:latin typeface="Aptos"/>
              </a:rPr>
              <a:t>Reliable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PostgreSQL + constraints +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9167"/>
                </a:solidFill>
                <a:latin typeface="Aptos"/>
              </a:rPr>
              <a:t>Flexible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MongoDB + common patient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78F30"/>
                </a:solidFill>
                <a:latin typeface="Aptos"/>
              </a:rPr>
              <a:t>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Clinical input → CKD classification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7" y="2971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F2A43"/>
                </a:solidFill>
                <a:latin typeface="Aptos"/>
              </a:rPr>
              <a:t>Secure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5204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7484"/>
                </a:solidFill>
                <a:latin typeface="Aptos"/>
              </a:rPr>
              <a:t>FastAPI + validation +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B"/>
                </a:solidFill>
                <a:latin typeface="Aptos"/>
              </a:rPr>
              <a:t>FINAL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00600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Aptos"/>
              </a:rPr>
              <a:t>Dataset → Clean &amp; Validate → PostgreSQL / MongoDB → FastAPI → CKD Prediction → Secure APIs → Deployment &amp; Monitoring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98755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2A43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10896"/>
            <a:ext cx="548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0919B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046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F7484"/>
                </a:solidFill>
                <a:latin typeface="Aptos"/>
              </a:rPr>
              <a:t>KEY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7484"/>
                </a:solidFill>
                <a:latin typeface="Aptos"/>
              </a:rPr>
              <a:t>CKD Patient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F7484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078992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2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1325880"/>
            <a:ext cx="182880" cy="1828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298448"/>
            <a:ext cx="10287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43"/>
                </a:solidFill>
                <a:latin typeface="Aptos"/>
              </a:rPr>
              <a:t>References used for project 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10512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1. UCI Machine Learning Repository, “Chronic Kidney Disease” dataset, Dataset 336.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2. KDIGO, “2024 Clinical Practice Guideline for the Evaluation and Management of Chronic Kidney Disease,” Kidney International,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36976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3. Capodici et al., “Predict, diagnose, and treat chronic kidney disease with machine learning: a systematic literature review,” Journal of Nephrology, 2023. DOI: 10.1007/s40620-023-01573-4.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4. Khalid et al., “Predicting the Progression of Chronic Kidney Disease: A Systematic Review of Artificial Intelligence and Machine Learning Approaches,” Cureus, 2024. DOI: 10.7759/cureus.60145.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5. Pan &amp; Tong, “Artificial intelligence in predicting chronic kidney disease prognosis: A systematic review and meta-analysis,” Renal Failure, 2024. DOI: 10.1080/0886022X.2024.2435483.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43746"/>
                </a:solidFill>
                <a:latin typeface="Aptos"/>
              </a:rPr>
              <a:t>6. Gogoi et al., “Machine learning approaches for predicting and diagnosing chronic kidney disease: current trends, challenges, solutions, and future directions,”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2121</Words>
  <Application>Microsoft Office PowerPoint</Application>
  <PresentationFormat>Widescreen</PresentationFormat>
  <Paragraphs>460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J.sohan</dc:creator>
  <cp:keywords/>
  <dc:description>generated using python-pptx</dc:description>
  <cp:lastModifiedBy>sohanjadala@outlook.com</cp:lastModifiedBy>
  <cp:revision>2</cp:revision>
  <dcterms:created xsi:type="dcterms:W3CDTF">2013-01-27T09:14:16Z</dcterms:created>
  <dcterms:modified xsi:type="dcterms:W3CDTF">2026-09-15T15:18:23Z</dcterms:modified>
  <cp:category/>
</cp:coreProperties>
</file>